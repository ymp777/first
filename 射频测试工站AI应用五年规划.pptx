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向各位汇报我们射频测试团队未来五年的AI应用规划。随着技术的发展，AI正在深刻地改变各行各业，我们的测试工作也面临着向智能化转型的机遇与挑战。这份规划旨在通过引入AI技术，提升我们测试工站的整体效率、可靠性和智能化水平，最终构建一个高效、自主、智能的现代化测试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八个部分。首先，我们会分析当前工作的现状与挑战；接着，将详细介绍我们规划的五大AI核心应用方向；然后，会展示我们分阶段的实施路线图；最后，将总结AI应用带来的预期收益和长远价值。希望能通过这个清晰的结构，让大家全面了解我们的AI转型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介绍AI应用之前，我们先来审视一下当前的工作现状。我们团队负责着800多台测试工站的运营，这是一个庞大的体系。我们拥有丰富的经验和数据，但同时也面临着一些瓶颈：比如，我们过于依赖资深工程师的经验，导致知识传承困难；大量的重复性工作降低了效率；我们总是在故障发生后才去处理，处于被动状态；资源分配也不够均衡。这些挑战都表明，我们迫切需要引入新的技术手段来提升我们的工作水平，而AI正是解决这些问题的关键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挑战，我们提出了五大AI应用方向，它们将构成我们智能化转型的核心支柱。这五个方向分别是：构建射频专用的大模型来辅助智能调试；部署智能Agent实现远程工站管理；利用AI进行预测性维护和异常检测；自动化生成和优化测试脚本；以及通过智能算法实现资源的动态调度和负载均衡。接下来，我将逐一为大家详细介绍每个方向的具体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方向是构建射频专用的大模型。我们知道，我们团队的核心资产之一就是工程师们多年积累的经验。通过将这些经验和历史数据整合起来，我们可以训练一个专属于我们领域的AI大模型。这个模型将能像资深专家一样，回答工程师的问题，提供故障诊断建议，甚至指导调试步骤。这不仅能帮助新员工快速成长，也能让资深工程师从重复的问题中解放出来，专注于更复杂的任务，同时实现团队知识的有效传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方向是智能Agent与远程管理。我们将在每个工站部署一个轻量级的智能代理，它就像工站的“眼睛”和“耳朵”，能够实时监控工站状态，自动收集测试数据，并在发现异常时及时报警。这意味着我们可以实现7x24小时的无人值守监控，大大减少人工巡检的工作量，同时确保任何异常都能被第一时间发现和处理，保障测试工作的连续性和稳定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方向是预测性维护。传统的维护方式是设备坏了再修，这往往会导致产线停机，造成损失。通过AI技术，我们可以分析设备的运行数据，比如振动、温度等，来预测设备何时可能出现故障。这样，我们就能变被动为主动，在故障发生前就安排维护，将停机时间降到最低。这不仅能提高设备的可靠性，还能优化我们的维护资源和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方向是自动化测试脚本生成。编写测试脚本是一项耗时且重复的工作。我们计划利用AI来自动完成这项任务。AI可以理解我们的测试需求文档，并自动生成相应的测试代码。这不仅能将工程师从繁琐的编码工作中解放出来，还能生成更多样化的测试用例，覆盖那些人工容易遗漏的边界场景，从而全面提升测试的效率和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五个方向是智能资源调度。我们有800多台工站，如何让它们高效协同工作是一个关键问题。通过AI驱动的调度算法，系统可以实时分析各个工站的负载情况，并根据任务的优先级和类型，动态地分配测试任务。这就像一个智能的交通指挥系统，能够避免拥堵，让每一台工站都发挥最大效能，从而整体上缩短测试周期，提高我们的产出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支撑上述五大应用方向，我们设计了一套混合技术架构。我们会在边缘侧，也就是每个工站，部署轻量级的AI模型和Agent，负责实时数据采集和快速响应。同时，在本地服务器上，我们会部署核心的大模型和数据库，进行深度分析和全局优化。这种架构的最大优势在于数据安全，所有数据都在本地处理，完全符合保密要求，同时也能保证系统的低延迟和自主可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我们的实施路线图。我们将整个五年规划分为五个阶段。第一年是基础构建期，核心任务是打好数据基础。我们会建立统一的数据采集平台，在关键工站部署智能Agent，并开始整理我们的知识库。同时，我们会选择一些关键设备进行预测性维护的试点，验证技术方案的可行性。这一年的目标是实现从0到1的突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和第三年是能力提升期。第二年，我们将完成射频大模型的训练和部署，并将自动化脚本生成和预测性维护推广到更多项目和设备上。第三年，我们将重点部署智能资源调度系统，实现测试任务的自动化分配，并打通整个测试流程，实现从任务到报告的全自动化。到第三年结束，我们的核心AI应用能力将基本成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和第五年是全面智能化期。第四年，我们将实现各个AI系统的深度融合，让它们协同工作，并开始探索AI在6G等前沿技术测试中的应用。到了第五年，我们的目标是打造一个行业领先的智能测试体系，这个体系不仅能高效完成日常工作，还能不断自我学习和进化，并形成标准化的解决方案，成为我们团队的核心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看看这次AI转型能为我们带来什么价值。我们预期，通过这五年的努力，我们的测试效率将得到显著提升，成本会有效降低，测试质量也将得到全面保障。更重要的是，我们的工程师将能从繁琐的工作中解放出来，专注于更有价值的创新工作，最终帮助我们构建起强大的核心竞争力，引领射频测试领域的智能化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我的汇报到此结束。AI赋能射频测试是一个充满挑战但前景广阔的旅程，我相信通过我们团队的共同努力，一定能够成功实现这次转型，开启我们智能测试的新篇章。感谢各位的聆听！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notesSlides/notesSlide3.xml" Type="http://schemas.openxmlformats.org/officeDocument/2006/relationships/notesSlide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jpe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notesSlides/notesSlide4.xml" Type="http://schemas.openxmlformats.org/officeDocument/2006/relationships/notesSlide"/><Relationship Id="rId2" Target="../media/image4.jpeg" Type="http://schemas.openxmlformats.org/officeDocument/2006/relationships/image"/><Relationship Id="rId3" Target="../media/image32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svg" Type="http://schemas.openxmlformats.org/officeDocument/2006/relationships/image"/><Relationship Id="rId13" Target="../media/image49.jpeg" Type="http://schemas.openxmlformats.org/officeDocument/2006/relationships/image"/><Relationship Id="rId14" Target="../notesSlides/notesSlide6.xml" Type="http://schemas.openxmlformats.org/officeDocument/2006/relationships/notesSlide"/><Relationship Id="rId2" Target="../media/image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58.jpe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5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2.jpe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0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notesSlides/notesSlide11.xml" Type="http://schemas.openxmlformats.org/officeDocument/2006/relationships/notesSlide"/><Relationship Id="rId2" Target="../media/image4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71.jpe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74.png" Type="http://schemas.openxmlformats.org/officeDocument/2006/relationships/image"/><Relationship Id="rId13" Target="../media/image75.svg" Type="http://schemas.openxmlformats.org/officeDocument/2006/relationships/image"/><Relationship Id="rId14" Target="../notesSlides/notesSlide14.xml" Type="http://schemas.openxmlformats.org/officeDocument/2006/relationships/notesSlide"/><Relationship Id="rId2" Target="../media/image4.jpeg" Type="http://schemas.openxmlformats.org/officeDocument/2006/relationships/image"/><Relationship Id="rId3" Target="../media/image76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83.png" Type="http://schemas.openxmlformats.org/officeDocument/2006/relationships/image"/><Relationship Id="rId4" Target="../media/image84.svg" Type="http://schemas.openxmlformats.org/officeDocument/2006/relationships/image"/><Relationship Id="rId5" Target="../notesSlides/notesSlide15.xml" Type="http://schemas.openxmlformats.org/officeDocument/2006/relationships/notesSlide"/><Relationship Id="rId6" Target="../media/image8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397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508000" y="2159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射频测试工站AI应用五年规划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B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302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E0E0E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迈向智能化、高效化的未来测试体系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5842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A86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2026 - 2030 Strategic Plan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2540000"/>
            <a:ext cx="50800" cy="508000"/>
          </a:xfrm>
          <a:prstGeom prst="roundRect">
            <a:avLst>
              <a:gd name="adj" fmla="val 0"/>
            </a:avLst>
          </a:prstGeom>
          <a:solidFill>
            <a:srgbClr val="3A8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633200" y="2540000"/>
            <a:ext cx="50800" cy="508000"/>
          </a:xfrm>
          <a:prstGeom prst="roundRect">
            <a:avLst>
              <a:gd name="adj" fmla="val 0"/>
            </a:avLst>
          </a:prstGeom>
          <a:solidFill>
            <a:srgbClr val="3A8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3A8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18669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01. 现状与挑战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我们面临的机遇与瓶颈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178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718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28067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02. 射频专用大模型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智能调试与优化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576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911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3746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03. 智能Agent系统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远程工站管理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5974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8514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460500" y="46863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04. 预测性维护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设备异常检测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17780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04000" y="2032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18669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05. 自动化测试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脚本生成与优化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27178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29718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048500" y="28067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06. 智能资源调度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负载均衡策略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36576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604000" y="39116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048500" y="3746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07. 实施路线图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分阶段推进计划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50000" y="4597400"/>
            <a:ext cx="5080000" cy="812800"/>
          </a:xfrm>
          <a:prstGeom prst="roundRect">
            <a:avLst>
              <a:gd name="adj" fmla="val 1562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6604000" y="48514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048500" y="46863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08. 预期收益与价值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长远价值展望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192F">
                  <a:alpha val="100000"/>
                </a:srgbClr>
              </a:gs>
              <a:gs pos="50000">
                <a:srgbClr val="3A86FF">
                  <a:alpha val="100000"/>
                </a:srgbClr>
              </a:gs>
              <a:gs pos="100000">
                <a:srgbClr val="0A192F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现状与挑战：我们面临的机遇与瓶颈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2606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当前运营现状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我们管理着约</a:t>
            </a:r>
            <a:r>
              <a:rPr lang="en-US" b="true" i="false" strike="noStrike" u="none" sz="18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800台</a:t>
            </a:r>
            <a:r>
              <a:rPr lang="en-US" b="false" i="false" strike="noStrike" u="none" sz="15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射频测试工站，负责从搭建、维护到监控、维修的全流程工作。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在长期的实践中，我们积累了宝贵的工程师经验和海量的测试数据，为智能化升级奠定了基础。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2032000"/>
            <a:ext cx="4826000" cy="3302000"/>
          </a:xfrm>
          <a:prstGeom prst="roundRect">
            <a:avLst>
              <a:gd name="adj" fmla="val 3846"/>
            </a:avLst>
          </a:prstGeom>
          <a:solidFill>
            <a:srgbClr val="FFBE0B">
              <a:alpha val="10000"/>
            </a:srgbClr>
          </a:solidFill>
          <a:ln w="12700" cmpd="sng" cap="flat">
            <a:solidFill>
              <a:srgbClr val="FFBE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6096000" y="2286000"/>
            <a:ext cx="406400" cy="40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604000" y="22606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核心痛点与挑战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0" y="2844800"/>
            <a:ext cx="203200" cy="203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413500" y="2794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人工依赖度高：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调试诊断依赖个人经验，知识传承难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0" y="3225800"/>
            <a:ext cx="203200" cy="203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413500" y="3175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效率瓶颈：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重复性脚本编写占用大量时间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096000" y="3606800"/>
            <a:ext cx="203200" cy="203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413500" y="3556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被动响应：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故障后知后觉，易导致产线停机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096000" y="3987800"/>
            <a:ext cx="203200" cy="203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413500" y="3937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资源不均：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工站负载失衡，排队与闲置并存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096000" y="43688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413500" y="43180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数据沉睡：</a:t>
            </a: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海量数据未有效分析，无法支持决策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3A86FF">
                  <a:alpha val="0"/>
                </a:srgbClr>
              </a:gs>
              <a:gs pos="50000">
                <a:srgbClr val="3A86FF">
                  <a:alpha val="100000"/>
                </a:srgbClr>
              </a:gs>
              <a:gs pos="100000">
                <a:srgbClr val="FFBE0B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778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引入AI技术是突破当前瓶颈、实现全流程智能化升级的关键路径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81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AI赋能：五大核心应用方向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10000" r="10000" t="4999" b="15000"/>
          <a:stretch>
            <a:fillRect/>
          </a:stretch>
        </p:blipFill>
        <p:spPr>
          <a:xfrm rot="0" flipH="false" flipV="false">
            <a:off x="5588000" y="1143000"/>
            <a:ext cx="1016000" cy="1016000"/>
          </a:xfrm>
          <a:prstGeom prst="ellipse">
            <a:avLst/>
          </a:prstGeom>
          <a:noFill/>
          <a:ln w="25400" cmpd="sng" cap="flat">
            <a:solidFill>
              <a:srgbClr val="3A86FF">
                <a:alpha val="10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2603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952500" y="3111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Poppins"/>
                <a:ea typeface="Poppins"/>
                <a:cs typeface="Poppins"/>
                <a:sym typeface="Poppins"/>
              </a:rPr>
              <a:t>射频大模型与智能调试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6830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将经验转化为智能模型，辅助工程师快速定位问题，提升调试效率。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845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175000" y="2603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175000" y="3111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Poppins"/>
                <a:ea typeface="Poppins"/>
                <a:cs typeface="Poppins"/>
                <a:sym typeface="Poppins"/>
              </a:rPr>
              <a:t>智能Agent与远程管理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75000" y="36830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实现工站状态自动化监控、数据处理和异常告警，降低人工干预成本。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397500" y="2603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397500" y="3111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Poppins"/>
                <a:ea typeface="Poppins"/>
                <a:cs typeface="Poppins"/>
                <a:sym typeface="Poppins"/>
              </a:rPr>
              <a:t>预测性维护与异常检测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97500" y="36830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变被动维修为主动预防，通过数据分析降低设备故障率和停机时间。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295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0" y="2603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620000" y="3111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Poppins"/>
                <a:ea typeface="Poppins"/>
                <a:cs typeface="Poppins"/>
                <a:sym typeface="Poppins"/>
              </a:rPr>
              <a:t>自动化脚本生成优化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0" y="36830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利用AI提升测试脚本开发效率，覆盖更多复杂场景，减少重复劳动。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652000" y="2413000"/>
            <a:ext cx="2032000" cy="3048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842500" y="26035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842500" y="31115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Poppins"/>
                <a:ea typeface="Poppins"/>
                <a:cs typeface="Poppins"/>
                <a:sym typeface="Poppins"/>
              </a:rPr>
              <a:t>智能资源调度与均衡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842500" y="3683000"/>
            <a:ext cx="165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优化工站资源分配，实现负载动态均衡，提升整体测试吞吐量。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方向一：射频专用大模型与智能调试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3A8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635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17780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核心目标：经验转化与智能辅助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60500" y="21336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将工程师的Debug经验、历史数据转化为可复用的AI模型，替代人工处理重复问题，提供精准辅助。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857500"/>
            <a:ext cx="635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048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29845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技术实现：知识库 + 专用LLM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460500" y="3340100"/>
            <a:ext cx="546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构建本地知识库：结构化整合维修记录、故障案例与技术文档。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• 训练专用模型：基于开源大模型微调，打造射频领域专属智能体。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81500"/>
            <a:ext cx="635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572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60500" y="45085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应用场景：赋能研发全流程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460500" y="48641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覆盖新员工培训、疑难故障快速定位、团队隐性知识沉淀与传承等核心场景。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74000" y="2032000"/>
            <a:ext cx="2794000" cy="2794000"/>
          </a:xfrm>
          <a:prstGeom prst="ellipse">
            <a:avLst/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5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rcRect l="12501" r="12501" t="0" b="24998"/>
          <a:stretch>
            <a:fillRect/>
          </a:stretch>
        </p:blipFill>
        <p:spPr>
          <a:xfrm rot="0" flipH="false" flipV="false">
            <a:off x="8255000" y="2413000"/>
            <a:ext cx="2032000" cy="203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7874000" y="4953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智能大脑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715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3A86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" y="58166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“让资深专家的经验数字化，让每一位工程师都拥有顶级的智能助手”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90551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方向二：智能Agent与远程工站管理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6604000" cy="762000"/>
          </a:xfrm>
          <a:prstGeom prst="roundRect">
            <a:avLst>
              <a:gd name="adj" fmla="val 16666"/>
            </a:avLst>
          </a:prstGeom>
          <a:solidFill>
            <a:srgbClr val="3A86FF">
              <a:alpha val="15000"/>
            </a:srgbClr>
          </a:solidFill>
          <a:ln w="12700" cmpd="sng" cap="flat">
            <a:solidFill>
              <a:srgbClr val="3A86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955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41500"/>
            <a:ext cx="571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核心目标：实现测试工站7x24小时自动化监控与管理，减少人工干预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7305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技术实现路径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175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31496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部署智能Agent：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在工站部署轻量级AI代理程序，作为数据采集入口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556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143000" y="35306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远程状态监控：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实时采集运行参数、健康状态及环境信息并上报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393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39116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数据自动回收：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自动收集数据并进行清洗、结构化与归档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62000" y="4318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143000" y="42926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良率监控报警：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识别数据与状态异常，多渠道触发实时告警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8260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关键应用场景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270500"/>
            <a:ext cx="2032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270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无人值守监控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921000" y="5270500"/>
            <a:ext cx="2032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921000" y="5270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数据自动备份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80000" y="5270500"/>
            <a:ext cx="2032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0" y="52705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异常快速响应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509000" y="2159000"/>
            <a:ext cx="2286000" cy="2286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0" blurRad="254000" algn="tl" rotWithShape="false">
              <a:srgbClr val="3A86FF">
                <a:alpha val="6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763000" y="2413000"/>
            <a:ext cx="1778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8509000" y="457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远程工站监控示意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方向三：预测性维护与异常检测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B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6604000" cy="889000"/>
          </a:xfrm>
          <a:prstGeom prst="roundRect">
            <a:avLst>
              <a:gd name="adj" fmla="val 1428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184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1336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核心目标：变被动为主动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24638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从“故障后维修”转向“故障前预警”，最大程度减少非计划停机时间。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048000"/>
            <a:ext cx="6604000" cy="1714500"/>
          </a:xfrm>
          <a:prstGeom prst="roundRect">
            <a:avLst>
              <a:gd name="adj" fmla="val 7407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200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1496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技术实现：AI驱动的深度洞察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397000" y="3505200"/>
            <a:ext cx="571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多维度采集：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整合振动、温度、电流等传感器数据，构建设备健康档案。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时序分析：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利用LSTM/Transformer模型分析数据变化趋势。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异常检测：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通过Autoencoder等算法自动识别偏离正常模式的行为。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寿命预测：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基于状态预测关键部件剩余使用寿命(RUL)。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895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0419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49911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应用场景：精准高效运维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397000" y="5346700"/>
            <a:ext cx="571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定期生成健康评估报告；提前预警潜在故障并给出建议；制定精准维护计划，避免过度或不足维护。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2032000"/>
            <a:ext cx="3048000" cy="3048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BE0B">
                <a:alpha val="5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rcRect l="16666" r="16666" t="12500" b="20833"/>
          <a:stretch>
            <a:fillRect/>
          </a:stretch>
        </p:blipFill>
        <p:spPr>
          <a:xfrm rot="0" flipH="false" flipV="false">
            <a:off x="8636000" y="2286000"/>
            <a:ext cx="203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8128000" y="444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智能大脑驱动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6096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通过数字化手段，实现从“经验驱动”到“数据驱动”的运维模式变革。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方向四：自动化测试脚本生成与优化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3A8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14500"/>
            <a:ext cx="6350000" cy="889000"/>
          </a:xfrm>
          <a:prstGeom prst="roundRect">
            <a:avLst>
              <a:gd name="adj" fmla="val 14285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006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18415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大幅提升测试脚本开发效率，提高测试用例的覆盖率与质量，释放人力资源。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940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2385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2004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需求文档解析：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利用NLP技术自动理解需求文档中的功能点与场景。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619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35814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自动生成脚本：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基于解析结果生成Python/LabVIEW等框架的可执行代码。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0005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143000" y="39624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脚本智能优化：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AI优化执行路径与异常处理，提升脚本稳定性。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62000" y="43815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143000" y="43434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用例优先级排序：</a:t>
            </a:r>
            <a:r>
              <a:rPr lang="en-US" b="false" i="false" strike="noStrike" u="none" sz="14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基于风险模型智能排序，优先执行高风险场景。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8895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334000"/>
            <a:ext cx="19685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" y="5397500"/>
            <a:ext cx="184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新项目快速启动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脚本极速开发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946400" y="5334000"/>
            <a:ext cx="19685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009900" y="5397500"/>
            <a:ext cx="184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大规模回归测试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自动化执行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143500" y="5334000"/>
            <a:ext cx="19685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207000" y="5397500"/>
            <a:ext cx="184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边界场景覆盖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异常组合测试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636000" y="2032000"/>
            <a:ext cx="2286000" cy="2286000"/>
          </a:xfrm>
          <a:prstGeom prst="ellipse">
            <a:avLst/>
          </a:prstGeom>
          <a:solidFill>
            <a:srgbClr val="FFBE0B">
              <a:alpha val="10000"/>
            </a:srgbClr>
          </a:solidFill>
          <a:ln w="12700" cmpd="sng" cap="flat">
            <a:solidFill>
              <a:srgbClr val="FFBE0B">
                <a:alpha val="3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890000" y="2286000"/>
            <a:ext cx="1778000" cy="1778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  <a:effectLst>
            <a:outerShdw dir="5400000" dist="63500" blurRad="127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27" id="27"/>
          <p:cNvSpPr/>
          <p:nvPr/>
        </p:nvSpPr>
        <p:spPr>
          <a:xfrm rot="0" flipH="false" flipV="false">
            <a:off x="8509000" y="4445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智能自动化引擎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方向五：智能资源调度与负载均衡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6604000" cy="1016000"/>
          </a:xfrm>
          <a:prstGeom prst="roundRect">
            <a:avLst>
              <a:gd name="adj" fmla="val 12500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032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33500" y="20066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3495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通过智能算法动态分配测试任务，实现工站资源的最优利用，缩短整体测试周期。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048000"/>
            <a:ext cx="6604000" cy="1651000"/>
          </a:xfrm>
          <a:prstGeom prst="roundRect">
            <a:avLst>
              <a:gd name="adj" fmla="val 7692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175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1496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492500"/>
            <a:ext cx="622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00000"/>
              </a:lnSpc>
              <a:buClr>
                <a:srgbClr val="DCDCDC"/>
              </a:buClr>
              <a:buChar char="•"/>
              <a:defRPr/>
            </a:pPr>
            <a:r>
              <a:rPr lang="en-US" b="tru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负载预测：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基于历史数据和队列，预测工站未来负载。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b="tru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动态调度：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采用强化学习/遗传算法，综合优先级与负载决策。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b="tru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负载均衡：</a:t>
            </a: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实时监控，自动将任务从重载工站迁移至轻载工站。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826000"/>
            <a:ext cx="6604000" cy="1143000"/>
          </a:xfrm>
          <a:prstGeom prst="roundRect">
            <a:avLst>
              <a:gd name="adj" fmla="val 11111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953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9276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5270500"/>
            <a:ext cx="622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00000"/>
              </a:lnSpc>
              <a:buClr>
                <a:srgbClr val="DCDCDC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大规模并行测试任务调度、紧急任务快速响应、设备利用率最大化。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636000" y="2286000"/>
            <a:ext cx="2286000" cy="2286000"/>
          </a:xfrm>
          <a:prstGeom prst="ellipse">
            <a:avLst/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5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8890000" y="2540000"/>
            <a:ext cx="1778000" cy="1778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0" blurRad="254000" algn="tl" rotWithShape="false">
              <a:srgbClr val="FFBE0B">
                <a:alpha val="40000"/>
              </a:srgbClr>
            </a:outerShdw>
          </a:effectLst>
        </p:spPr>
      </p:pic>
      <p:sp>
        <p:nvSpPr>
          <p:cNvPr name="AutoShape 19" id="19"/>
          <p:cNvSpPr/>
          <p:nvPr/>
        </p:nvSpPr>
        <p:spPr>
          <a:xfrm rot="0" flipH="false" flipV="false">
            <a:off x="8509000" y="4699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驱动的智能调度引擎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6045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技术架构与本地部署策略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159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边缘层：实时响应与采集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51000" y="25400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部署轻量级AI模型与智能Agent，负责工站实时数据采集与初步分析，保障低延迟与本地自治能力。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683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BE0B">
              <a:alpha val="10000"/>
            </a:srgbClr>
          </a:solidFill>
          <a:ln w="12700" cmpd="sng" cap="flat">
            <a:solidFill>
              <a:srgbClr val="FFBE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16666" r="16666" t="0" b="33333"/>
          <a:stretch>
            <a:fillRect/>
          </a:stretch>
        </p:blipFill>
        <p:spPr>
          <a:xfrm rot="0" flipH="false" flipV="false">
            <a:off x="1016000" y="38735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3810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本地服务器层：核心计算与存储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51000" y="4191000"/>
            <a:ext cx="393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承载核心大语言模型、数据库与深度分析模块，处理复杂计算、模型训练及全局资源优化。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032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本地部署核心优势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540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40500" y="27686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2603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数据安全合规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敏感数据本地闭环，杜绝泄露风险，符合保密要求。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429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36576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985000" y="3492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毫秒级低延迟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边缘计算规避网络波动，确保监控与响应实时性。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4318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540500" y="4546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4381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技术自主可控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不依赖外部云服务，技术栈自主搭建，支持长期演进。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461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651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混合架构模式不仅解决了传统集中式部署的延迟痛点，更通过本地化方案构建了安全、自主的技术底座。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8559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实施路线图：第一阶段（基础构建期）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3A86FF">
              <a:alpha val="1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5621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5240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阶段目标（第1年）：</a:t>
            </a:r>
            <a:r>
              <a:rPr lang="en-US" b="false" i="false" strike="noStrike" u="none" sz="18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完成基础数据采集平台搭建，实现初步的AI应用试点。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13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746250" y="2667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8890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数据基础建设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746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建立统一的数据采集标准，搭建集中式数据存储和管理平台。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2413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476750" y="2667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6195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智能Agent部署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19500" y="3746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在关键工站部署智能Agent，实现状态监控和数据自动采集。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413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207250" y="2667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3500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知识库构建启动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746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整理历史维修记录与故障案例，启动射频专用知识库构建。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53500" y="2413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937750" y="26670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0805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预测性维护试点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80500" y="3746500"/>
            <a:ext cx="222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选择关键设备开发部署预测性维护模型，验证技术可行性。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3A86FF">
                  <a:alpha val="0"/>
                </a:srgbClr>
              </a:gs>
              <a:gs pos="50000">
                <a:srgbClr val="3A86FF">
                  <a:alpha val="100000"/>
                </a:srgbClr>
              </a:gs>
              <a:gs pos="100000">
                <a:srgbClr val="3A86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58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聚焦数据底座与技术验证，实现智能化转型从0到1的突破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44" b="44"/>
          <a:stretch>
            <a:fillRect/>
          </a:stretch>
        </p:blipFill>
        <p:spPr>
          <a:xfrm rot="0" flipH="false" flipV="false">
            <a:off x="762000" y="1054100"/>
            <a:ext cx="508000" cy="28575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914400"/>
            <a:ext cx="95504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实施路线图：第二、三阶段（能力提升期）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25400" cmpd="sng" cap="flat">
            <a:solidFill>
              <a:srgbClr val="3A86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22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A86FF"/>
                </a:solidFill>
                <a:latin typeface="Poppins"/>
                <a:ea typeface="Poppins"/>
                <a:cs typeface="Poppins"/>
                <a:sym typeface="Poppins"/>
              </a:rPr>
              <a:t>第二阶段（第2年）：深化AI应用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67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实现核心功能的规模化部署，扩大AI覆盖范围。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2385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Font typeface="Wingdings"/>
              <a:buChar char="v"/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完成射频专用大模型的训练和部署</a:t>
            </a: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Font typeface="Wingdings"/>
              <a:buChar char="v"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推广自动化测试脚本生成工具至主要项目</a:t>
            </a: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Font typeface="Wingdings"/>
              <a:buChar char="v"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预测性维护模型覆盖全量关键设备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32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25400" cmpd="sng" cap="flat">
            <a:solidFill>
              <a:srgbClr val="FFBE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222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BE0B"/>
                </a:solidFill>
                <a:latin typeface="Poppins"/>
                <a:ea typeface="Poppins"/>
                <a:cs typeface="Poppins"/>
                <a:sym typeface="Poppins"/>
              </a:rPr>
              <a:t>第三阶段（第3年）：优化智能调度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2667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全面提升测试流程效率，实现端到端自动化。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32385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FFFFFF"/>
              </a:buClr>
              <a:buFont typeface="Wingdings"/>
              <a:buChar char="v"/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部署智能资源调度系统，自动化分配任务</a:t>
            </a: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Font typeface="Wingdings"/>
              <a:buChar char="v"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打通全流程，实现从分配到报告的自动化</a:t>
            </a: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FFFFFF"/>
              </a:buClr>
              <a:buFont typeface="Wingdings"/>
              <a:buChar char="v"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建立AI模型持续优化和迭代机制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3A86FF">
                  <a:alpha val="100000"/>
                </a:srgbClr>
              </a:gs>
              <a:gs pos="100000">
                <a:srgbClr val="FFBE0B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9550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实施路线图：第四、五阶段（全面智能化期）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260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A86FF"/>
                </a:solidFill>
                <a:latin typeface="Noto Sans SC"/>
                <a:ea typeface="Noto Sans SC"/>
                <a:cs typeface="Noto Sans SC"/>
                <a:sym typeface="Noto Sans SC"/>
              </a:rPr>
              <a:t>第四阶段（第4年）：系统融合与自主进化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深度融合AI子系统，探索前沿应用。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关键任务：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08333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实现各AI子系统的深度融合与协同，形成统一智能测试平台。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08333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探索AI在6G、毫米波等前沿测试技术中的应用场景。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BE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2260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第五阶段（第5年）：行业领先体系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2794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打造行业领先的智能测试体系与标准。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33020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关键任务：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08333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优化模型自我学习进化能力，沉淀标准化AI测试解决方案。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08333"/>
              </a:lnSpc>
              <a:buClr>
                <a:srgbClr val="FFFFFF"/>
              </a:buClr>
              <a:buChar char="•"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对外输出技术能力，构建团队核心竞争力。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3A86FF">
                  <a:alpha val="100000"/>
                </a:srgbClr>
              </a:gs>
              <a:gs pos="100000">
                <a:srgbClr val="FFBE0B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990600"/>
            <a:ext cx="508000" cy="508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952500"/>
            <a:ext cx="50292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预期收益与价值展望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057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效率显著提升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540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测试执行效率提升30%以上，故障平均处理时间缩短50%以上。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190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648200" y="2095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56200" y="2057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成本有效降低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48200" y="2540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减少非计划停机损失与设备维护成本；释放人力资源，减少重复劳动。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1905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280400" y="2095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88400" y="2057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质量全面保障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80400" y="2540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AI覆盖更多边界场景降低漏测风险；实时监控预警确保过程稳定可靠。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413000" y="3683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2667000" y="3873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3175000" y="3835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人才发展加速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667000" y="4318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解放工程师专注创造性研究，激发技术创新活力，提升团队整体水平。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172200" y="3683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3A86FF">
              <a:alpha val="10000"/>
            </a:srgbClr>
          </a:solidFill>
          <a:ln w="12700" cmpd="sng" cap="flat">
            <a:solidFill>
              <a:srgbClr val="3A86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26200" y="38735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34200" y="3835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BE0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核心竞争力构建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26200" y="43180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形成自主可控的智能测试体系，打造射频测试领域的技术壁垒。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3A86FF">
                  <a:alpha val="0"/>
                </a:srgbClr>
              </a:gs>
              <a:gs pos="50000">
                <a:srgbClr val="3A86FF">
                  <a:alpha val="100000"/>
                </a:srgbClr>
              </a:gs>
              <a:gs pos="100000">
                <a:srgbClr val="3A86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778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引领射频测试领域智能化发展，实现技术与商业价值的双重飞跃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03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984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B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238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C8DCFF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期待与您共同开启智能测试新篇章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318000"/>
            <a:ext cx="4064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